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3" r:id="rId9"/>
    <p:sldId id="269" r:id="rId10"/>
    <p:sldId id="271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260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9616" y="2779776"/>
            <a:ext cx="7187184" cy="1782763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  <a:tabLst>
                <a:tab pos="904875" algn="l"/>
              </a:tabLs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Role- Based Digital Platform for Farmer-Vendor Coordination with Demand Forecasting and vendor optimization</a:t>
            </a:r>
          </a:p>
          <a:p>
            <a:pPr marL="0" indent="0">
              <a:buNone/>
            </a:pPr>
            <a:endParaRPr sz="2800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 logo with green leaves">
            <a:extLst>
              <a:ext uri="{FF2B5EF4-FFF2-40B4-BE49-F238E27FC236}">
                <a16:creationId xmlns:a16="http://schemas.microsoft.com/office/drawing/2014/main" id="{37873D09-1A2A-8C67-CA4A-0882575C2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770382"/>
            <a:ext cx="3168396" cy="316839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5FE294-5E21-8C78-F90D-7BB655695975}"/>
              </a:ext>
            </a:extLst>
          </p:cNvPr>
          <p:cNvSpPr txBox="1">
            <a:spLocks/>
          </p:cNvSpPr>
          <p:nvPr/>
        </p:nvSpPr>
        <p:spPr>
          <a:xfrm>
            <a:off x="5638800" y="4611020"/>
            <a:ext cx="2737104" cy="1476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Font typeface="Arial"/>
              <a:buNone/>
              <a:tabLst>
                <a:tab pos="904875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Maneesha </a:t>
            </a:r>
            <a:r>
              <a:rPr lang="en-US" sz="18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Eeshwara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Font typeface="Arial"/>
              <a:buNone/>
              <a:tabLst>
                <a:tab pos="904875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300392759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Font typeface="Arial"/>
              <a:buNone/>
              <a:tabLst>
                <a:tab pos="904875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CSIS 4495 003</a:t>
            </a:r>
          </a:p>
          <a:p>
            <a:pPr marL="0" indent="0">
              <a:buFont typeface="Arial"/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" y="-222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chemeClr val="bg1"/>
                </a:solidFill>
              </a:rPr>
              <a:t>Background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7" name="Picture 6" descr="A logo with green leaves">
            <a:extLst>
              <a:ext uri="{FF2B5EF4-FFF2-40B4-BE49-F238E27FC236}">
                <a16:creationId xmlns:a16="http://schemas.microsoft.com/office/drawing/2014/main" id="{486A9B6C-8EC1-F13D-4A66-8B7C4B49D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094" y="5324094"/>
            <a:ext cx="1533906" cy="15339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C24AB2-1C1F-CD6B-2F16-CE0D707F2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910" y="1960534"/>
            <a:ext cx="3524250" cy="3524250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AEB12548-CA66-2D0C-2D93-CC818A4C6A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5760" y="1366931"/>
            <a:ext cx="6156198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coordination between farmers and vendors in supply chains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 uncertainty leads to overproduction and food waste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Vendors experience stock shortages due to poor demand visibility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Decisions are based on manual estimation rather than data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forecasting and intelligent decision-support systems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29132"/>
            <a:ext cx="7658101" cy="4700016"/>
          </a:xfrm>
        </p:spPr>
        <p:txBody>
          <a:bodyPr>
            <a:normAutofit/>
          </a:bodyPr>
          <a:lstStyle/>
          <a:p>
            <a:pPr marL="2286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CA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Literature review of agricultural supply‑chain systems 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CA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Data‑driven analysis using historical and synthetic demand data 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CA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Forecasting model comparison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CA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Full‑stack system design with 					real‑time integration 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CA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Scenario‑based evaluation and usability testing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 person showing a graph on a computer screen">
            <a:extLst>
              <a:ext uri="{FF2B5EF4-FFF2-40B4-BE49-F238E27FC236}">
                <a16:creationId xmlns:a16="http://schemas.microsoft.com/office/drawing/2014/main" id="{B003795E-9A0D-B3DB-E20F-68EF98A8A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0" y="2483263"/>
            <a:ext cx="4124325" cy="27495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 err="1">
                <a:solidFill>
                  <a:schemeClr val="bg1"/>
                </a:solidFill>
              </a:rPr>
              <a:t>Research</a:t>
            </a:r>
            <a:r>
              <a:rPr lang="fr-CA" b="1" dirty="0">
                <a:solidFill>
                  <a:schemeClr val="bg1"/>
                </a:solidFill>
              </a:rPr>
              <a:t> Methods</a:t>
            </a:r>
            <a:endParaRPr dirty="0"/>
          </a:p>
        </p:txBody>
      </p:sp>
      <p:pic>
        <p:nvPicPr>
          <p:cNvPr id="8" name="Picture 7" descr="A logo with green leaves">
            <a:extLst>
              <a:ext uri="{FF2B5EF4-FFF2-40B4-BE49-F238E27FC236}">
                <a16:creationId xmlns:a16="http://schemas.microsoft.com/office/drawing/2014/main" id="{46ED0022-D327-1693-AC02-3DC7B9CF1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094" y="5324094"/>
            <a:ext cx="1533906" cy="15339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292664F8-15F4-0CE6-8825-5C5C63E10B05}"/>
              </a:ext>
            </a:extLst>
          </p:cNvPr>
          <p:cNvSpPr txBox="1"/>
          <p:nvPr/>
        </p:nvSpPr>
        <p:spPr>
          <a:xfrm>
            <a:off x="3320658" y="286068"/>
            <a:ext cx="241123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defRPr sz="3200" b="1"/>
            </a:pPr>
            <a:r>
              <a:rPr sz="4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Evolution</a:t>
            </a:r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CD56DDAB-C044-4A61-96E6-0F9457967DEC}"/>
              </a:ext>
            </a:extLst>
          </p:cNvPr>
          <p:cNvSpPr/>
          <p:nvPr/>
        </p:nvSpPr>
        <p:spPr>
          <a:xfrm>
            <a:off x="274320" y="1844040"/>
            <a:ext cx="1463040" cy="1463040"/>
          </a:xfrm>
          <a:prstGeom prst="roundRect">
            <a:avLst/>
          </a:prstGeom>
        </p:spPr>
        <p:style>
          <a:lnRef idx="1">
            <a:schemeClr val="dk1"/>
          </a:lnRef>
          <a:fillRef idx="1001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/>
            </a:pP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 1</a:t>
            </a:r>
            <a:b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Problem Definition</a:t>
            </a:r>
          </a:p>
          <a:p>
            <a:pPr algn="ctr">
              <a:defRPr sz="1100"/>
            </a:pP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Identified coordination gaps</a:t>
            </a:r>
            <a:b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Defined system scope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AB299124-10BE-FD25-DE29-3E773C153024}"/>
              </a:ext>
            </a:extLst>
          </p:cNvPr>
          <p:cNvSpPr/>
          <p:nvPr/>
        </p:nvSpPr>
        <p:spPr>
          <a:xfrm>
            <a:off x="1920240" y="1844040"/>
            <a:ext cx="1645920" cy="1463040"/>
          </a:xfrm>
          <a:prstGeom prst="roundRect">
            <a:avLst/>
          </a:prstGeom>
        </p:spPr>
        <p:style>
          <a:lnRef idx="1">
            <a:schemeClr val="dk1"/>
          </a:lnRef>
          <a:fillRef idx="1001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/>
            </a:pP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 2</a:t>
            </a:r>
            <a:b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Core Development</a:t>
            </a:r>
          </a:p>
          <a:p>
            <a:pPr algn="ctr">
              <a:defRPr sz="1100"/>
            </a:pP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Auth, inventory, demand, dispatch</a:t>
            </a:r>
            <a:b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Role-based dashboards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4CDCDD0B-8842-3820-F13B-888ED17073DC}"/>
              </a:ext>
            </a:extLst>
          </p:cNvPr>
          <p:cNvSpPr/>
          <p:nvPr/>
        </p:nvSpPr>
        <p:spPr>
          <a:xfrm>
            <a:off x="3749040" y="1844040"/>
            <a:ext cx="1645920" cy="1463040"/>
          </a:xfrm>
          <a:prstGeom prst="roundRect">
            <a:avLst/>
          </a:prstGeom>
        </p:spPr>
        <p:style>
          <a:lnRef idx="1">
            <a:schemeClr val="dk1"/>
          </a:lnRef>
          <a:fillRef idx="1001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/>
            </a:pPr>
            <a:r>
              <a: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 3</a:t>
            </a:r>
            <a:br>
              <a: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Research &amp; Forecasting</a:t>
            </a:r>
          </a:p>
          <a:p>
            <a:pPr algn="ctr">
              <a:defRPr sz="1100"/>
            </a:pPr>
            <a:r>
              <a: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Moving Average baseline</a:t>
            </a:r>
            <a:br>
              <a: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ML.NET SSA forecasting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D0D8FF1E-3E78-69C8-CD8B-0B031B822651}"/>
              </a:ext>
            </a:extLst>
          </p:cNvPr>
          <p:cNvSpPr/>
          <p:nvPr/>
        </p:nvSpPr>
        <p:spPr>
          <a:xfrm>
            <a:off x="5577840" y="1844040"/>
            <a:ext cx="1645920" cy="1463040"/>
          </a:xfrm>
          <a:prstGeom prst="roundRect">
            <a:avLst/>
          </a:prstGeom>
        </p:spPr>
        <p:style>
          <a:lnRef idx="1">
            <a:schemeClr val="dk1"/>
          </a:lnRef>
          <a:fillRef idx="1001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/>
            </a:pPr>
            <a:r>
              <a: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 4</a:t>
            </a:r>
            <a:br>
              <a: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Intelligence</a:t>
            </a:r>
          </a:p>
          <a:p>
            <a:pPr algn="ctr">
              <a:defRPr sz="1100"/>
            </a:pPr>
            <a:r>
              <a: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Vendor recommendation</a:t>
            </a:r>
            <a:br>
              <a: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Relationship scoring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833E1DC2-E800-816A-5400-64421CB1C795}"/>
              </a:ext>
            </a:extLst>
          </p:cNvPr>
          <p:cNvSpPr/>
          <p:nvPr/>
        </p:nvSpPr>
        <p:spPr>
          <a:xfrm>
            <a:off x="7406640" y="1844040"/>
            <a:ext cx="1463040" cy="1463040"/>
          </a:xfrm>
          <a:prstGeom prst="roundRect">
            <a:avLst/>
          </a:prstGeom>
        </p:spPr>
        <p:style>
          <a:lnRef idx="1">
            <a:schemeClr val="dk1"/>
          </a:lnRef>
          <a:fillRef idx="1001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/>
            </a:pP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 5</a:t>
            </a:r>
            <a:b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Final Integration</a:t>
            </a:r>
          </a:p>
          <a:p>
            <a:pPr algn="ctr">
              <a:defRPr sz="1100"/>
            </a:pPr>
            <a:r>
              <a:rPr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SignalR</a:t>
            </a: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chat</a:t>
            </a:r>
            <a:b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UI/UX, testing, docs</a:t>
            </a:r>
          </a:p>
        </p:txBody>
      </p:sp>
      <p:sp>
        <p:nvSpPr>
          <p:cNvPr id="14" name="Right Arrow 7">
            <a:extLst>
              <a:ext uri="{FF2B5EF4-FFF2-40B4-BE49-F238E27FC236}">
                <a16:creationId xmlns:a16="http://schemas.microsoft.com/office/drawing/2014/main" id="{7E6A62A8-602B-16C8-63E6-FB2A79C5E1B5}"/>
              </a:ext>
            </a:extLst>
          </p:cNvPr>
          <p:cNvSpPr/>
          <p:nvPr/>
        </p:nvSpPr>
        <p:spPr>
          <a:xfrm>
            <a:off x="1737360" y="2438400"/>
            <a:ext cx="182880" cy="274320"/>
          </a:xfrm>
          <a:prstGeom prst="rightArrow">
            <a:avLst/>
          </a:prstGeom>
        </p:spPr>
        <p:style>
          <a:lnRef idx="1">
            <a:schemeClr val="dk1"/>
          </a:lnRef>
          <a:fillRef idx="1001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ight Arrow 8">
            <a:extLst>
              <a:ext uri="{FF2B5EF4-FFF2-40B4-BE49-F238E27FC236}">
                <a16:creationId xmlns:a16="http://schemas.microsoft.com/office/drawing/2014/main" id="{D0B332C4-64C4-F5D1-936A-E4B45A3340AC}"/>
              </a:ext>
            </a:extLst>
          </p:cNvPr>
          <p:cNvSpPr/>
          <p:nvPr/>
        </p:nvSpPr>
        <p:spPr>
          <a:xfrm>
            <a:off x="3566160" y="2438400"/>
            <a:ext cx="182880" cy="274320"/>
          </a:xfrm>
          <a:prstGeom prst="rightArrow">
            <a:avLst/>
          </a:prstGeom>
        </p:spPr>
        <p:style>
          <a:lnRef idx="1">
            <a:schemeClr val="dk1"/>
          </a:lnRef>
          <a:fillRef idx="1001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ight Arrow 9">
            <a:extLst>
              <a:ext uri="{FF2B5EF4-FFF2-40B4-BE49-F238E27FC236}">
                <a16:creationId xmlns:a16="http://schemas.microsoft.com/office/drawing/2014/main" id="{B04EB937-9B23-AE62-1C6A-473EFDF45AB3}"/>
              </a:ext>
            </a:extLst>
          </p:cNvPr>
          <p:cNvSpPr/>
          <p:nvPr/>
        </p:nvSpPr>
        <p:spPr>
          <a:xfrm>
            <a:off x="5394960" y="2438400"/>
            <a:ext cx="182880" cy="274320"/>
          </a:xfrm>
          <a:prstGeom prst="rightArrow">
            <a:avLst/>
          </a:prstGeom>
        </p:spPr>
        <p:style>
          <a:lnRef idx="1">
            <a:schemeClr val="dk1"/>
          </a:lnRef>
          <a:fillRef idx="1001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ight Arrow 10">
            <a:extLst>
              <a:ext uri="{FF2B5EF4-FFF2-40B4-BE49-F238E27FC236}">
                <a16:creationId xmlns:a16="http://schemas.microsoft.com/office/drawing/2014/main" id="{15544577-B62B-D9E3-46E1-1E51D15412D3}"/>
              </a:ext>
            </a:extLst>
          </p:cNvPr>
          <p:cNvSpPr/>
          <p:nvPr/>
        </p:nvSpPr>
        <p:spPr>
          <a:xfrm>
            <a:off x="7223760" y="2438400"/>
            <a:ext cx="182880" cy="274320"/>
          </a:xfrm>
          <a:prstGeom prst="rightArrow">
            <a:avLst/>
          </a:prstGeom>
        </p:spPr>
        <p:style>
          <a:lnRef idx="1">
            <a:schemeClr val="dk1"/>
          </a:lnRef>
          <a:fillRef idx="1001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619AFA7-A677-E2D0-A8C1-DCEE6FC8C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691" y="3916680"/>
            <a:ext cx="5002149" cy="1941195"/>
          </a:xfrm>
        </p:spPr>
        <p:txBody>
          <a:bodyPr>
            <a:normAutofit fontScale="85000" lnSpcReduction="10000"/>
          </a:bodyPr>
          <a:lstStyle/>
          <a:p>
            <a:pPr marL="2286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Transitioned from manual coordination to data‑driven decisions 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Introduced forecasting and intelligent recommendations </a:t>
            </a:r>
          </a:p>
          <a:p>
            <a:pPr marL="2286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Enabled real‑time collaboration between farmers and vendors</a:t>
            </a:r>
          </a:p>
          <a:p>
            <a:pPr marL="0" indent="0">
              <a:buNone/>
            </a:pPr>
            <a:endParaRPr sz="2800" dirty="0"/>
          </a:p>
        </p:txBody>
      </p:sp>
      <p:pic>
        <p:nvPicPr>
          <p:cNvPr id="19" name="Picture 18" descr="A logo with green leaves">
            <a:extLst>
              <a:ext uri="{FF2B5EF4-FFF2-40B4-BE49-F238E27FC236}">
                <a16:creationId xmlns:a16="http://schemas.microsoft.com/office/drawing/2014/main" id="{FDEEB75C-BE6F-E7ED-F1FE-885AC5AEB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094" y="5324094"/>
            <a:ext cx="1533906" cy="1533906"/>
          </a:xfrm>
          <a:prstGeom prst="rect">
            <a:avLst/>
          </a:prstGeom>
        </p:spPr>
      </p:pic>
      <p:pic>
        <p:nvPicPr>
          <p:cNvPr id="21" name="Picture 20" descr="A cartoon of a person sitting at a computer&#10;&#10;AI-generated content may be incorrect.">
            <a:extLst>
              <a:ext uri="{FF2B5EF4-FFF2-40B4-BE49-F238E27FC236}">
                <a16:creationId xmlns:a16="http://schemas.microsoft.com/office/drawing/2014/main" id="{C99E8A41-3FE3-B4DC-29C3-84E66D288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842" y="3206687"/>
            <a:ext cx="2508250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208520" cy="4638674"/>
          </a:xfrm>
        </p:spPr>
        <p:txBody>
          <a:bodyPr>
            <a:normAutofit fontScale="85000" lnSpcReduction="10000"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CA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Forecast‑Driven Decision Support</a:t>
            </a:r>
            <a:b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Integrated demand forecasting directly into dispatch planning and vendor selection rather than treating forecasting as a standalone analytics task.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CA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Cold‑Start‑Aware Forecasting Approach</a:t>
            </a:r>
            <a:b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Demonstrated how simulated and incrementally collected data can support early‑stage forecasting when large historical datasets are unavailable.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CA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Comparative Forecasting Research</a:t>
            </a:r>
            <a:b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Implemented and evaluated both Moving Average and ML.NET SSA models to study forecasting behavior and impact on decision‑making.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CA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Multi‑Factor Vendor Recommendation</a:t>
            </a:r>
            <a:b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Designed a recommendation model that combines forecasted demand, inventory availability, geographical distance, and historical relationships.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CA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Human‑in‑the‑Loop System Design</a:t>
            </a:r>
            <a:b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Emphasized interpretability and user control by supporting recommendations rather than full automation, aligning with real agricultural decision practices.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" y="9462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088"/>
            <a:ext cx="8229600" cy="1143000"/>
          </a:xfrm>
        </p:spPr>
        <p:txBody>
          <a:bodyPr/>
          <a:lstStyle/>
          <a:p>
            <a:pPr>
              <a:defRPr sz="3200" b="1"/>
            </a:pPr>
            <a:r>
              <a:rPr lang="en-CA" b="1" dirty="0">
                <a:solidFill>
                  <a:schemeClr val="bg1"/>
                </a:solidFill>
              </a:rPr>
              <a:t>Research Novelty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7" name="Picture 6" descr="A logo with green leaves">
            <a:extLst>
              <a:ext uri="{FF2B5EF4-FFF2-40B4-BE49-F238E27FC236}">
                <a16:creationId xmlns:a16="http://schemas.microsoft.com/office/drawing/2014/main" id="{39931262-0C44-2B79-15D2-C59C0183C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094" y="5324094"/>
            <a:ext cx="1533906" cy="15339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525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088"/>
            <a:ext cx="8229600" cy="1143000"/>
          </a:xfrm>
        </p:spPr>
        <p:txBody>
          <a:bodyPr/>
          <a:lstStyle/>
          <a:p>
            <a:pPr>
              <a:defRPr sz="3200" b="1"/>
            </a:pPr>
            <a:r>
              <a:rPr lang="en-CA" sz="3200" b="1" dirty="0">
                <a:solidFill>
                  <a:schemeClr val="bg1"/>
                </a:solidFill>
              </a:rPr>
              <a:t>	System framework</a:t>
            </a:r>
            <a:endParaRPr sz="3200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04CFB7-C878-1D97-951A-6300A5CF8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" y="2149929"/>
            <a:ext cx="8372475" cy="2907846"/>
          </a:xfrm>
          <a:prstGeom prst="rect">
            <a:avLst/>
          </a:prstGeom>
        </p:spPr>
      </p:pic>
      <p:pic>
        <p:nvPicPr>
          <p:cNvPr id="14" name="Picture 13" descr="A logo with green leaves">
            <a:extLst>
              <a:ext uri="{FF2B5EF4-FFF2-40B4-BE49-F238E27FC236}">
                <a16:creationId xmlns:a16="http://schemas.microsoft.com/office/drawing/2014/main" id="{F68A2336-98DC-5671-8664-AB709EBAA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094" y="5324094"/>
            <a:ext cx="1533906" cy="15339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525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1143000"/>
          </a:xfrm>
        </p:spPr>
        <p:txBody>
          <a:bodyPr/>
          <a:lstStyle/>
          <a:p>
            <a:pPr>
              <a:defRPr sz="3200" b="1"/>
            </a:pPr>
            <a:r>
              <a:rPr lang="en-CA" sz="3200" b="1" dirty="0">
                <a:solidFill>
                  <a:schemeClr val="bg1"/>
                </a:solidFill>
              </a:rPr>
              <a:t>Tech Stack</a:t>
            </a:r>
            <a:endParaRPr sz="3200" b="1" dirty="0">
              <a:solidFill>
                <a:schemeClr val="bg1"/>
              </a:solidFill>
            </a:endParaRPr>
          </a:p>
        </p:txBody>
      </p:sp>
      <p:pic>
        <p:nvPicPr>
          <p:cNvPr id="17" name="Picture 16" descr="A logo with green leaves">
            <a:extLst>
              <a:ext uri="{FF2B5EF4-FFF2-40B4-BE49-F238E27FC236}">
                <a16:creationId xmlns:a16="http://schemas.microsoft.com/office/drawing/2014/main" id="{4338106F-34B8-5C8B-C811-81BCFE310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094" y="5324094"/>
            <a:ext cx="1533906" cy="1533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6014B5-503E-6FB9-B855-E6DA64596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299528"/>
            <a:ext cx="4619978" cy="524604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B7307A9-957F-FABD-67AA-876BDAF9A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397" y="1600201"/>
            <a:ext cx="3459127" cy="4700016"/>
          </a:xfrm>
        </p:spPr>
        <p:txBody>
          <a:bodyPr>
            <a:normAutofit fontScale="85000" lnSpcReduction="20000"/>
          </a:bodyPr>
          <a:lstStyle/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5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Frontend (User Interface)</a:t>
            </a:r>
            <a:b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React (</a:t>
            </a:r>
            <a:r>
              <a:rPr lang="en-CA" sz="15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Vite</a:t>
            </a:r>
            <a: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 custom CSS dashboard styling, JWT handling (</a:t>
            </a:r>
            <a:r>
              <a:rPr lang="en-CA" sz="15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localStorage</a:t>
            </a:r>
            <a: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 chart visualization 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5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Backend (Server &amp; APIs)</a:t>
            </a:r>
            <a:b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ASP.NET Core (.NET 8), RESTful APIs, ASP.NET Identity + JWT, </a:t>
            </a:r>
            <a:r>
              <a:rPr lang="en-CA" sz="15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SignalR</a:t>
            </a:r>
            <a: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5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Database Layer</a:t>
            </a:r>
            <a:b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 Server (</a:t>
            </a:r>
            <a:r>
              <a:rPr lang="en-CA" sz="15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LocalDB</a:t>
            </a:r>
            <a: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 Entity Framework Core, core tables (Users, </a:t>
            </a:r>
            <a:r>
              <a:rPr lang="en-CA" sz="15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DemandRequest</a:t>
            </a:r>
            <a: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CA" sz="15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InventoryLot</a:t>
            </a:r>
            <a: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CA" sz="15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DemandForecast</a:t>
            </a:r>
            <a: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Dispatch) 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5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Machine Learning</a:t>
            </a:r>
            <a:b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ML.NET (SSA time‑series forecasting), historical demand‑based prediction 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5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APIs &amp; Integration</a:t>
            </a:r>
            <a:b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Forecast APIs, Recommendation API, Search APIs, Postman testing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5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Development Tools</a:t>
            </a:r>
            <a:b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CA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 Studio / VS Code, Git &amp; GitHub, Postman, SSMS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7288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563"/>
            <a:ext cx="8229600" cy="1143000"/>
          </a:xfrm>
        </p:spPr>
        <p:txBody>
          <a:bodyPr/>
          <a:lstStyle/>
          <a:p>
            <a:pPr>
              <a:defRPr sz="3200" b="1"/>
            </a:pPr>
            <a:r>
              <a:rPr lang="en-CA" sz="3200" b="1" dirty="0">
                <a:solidFill>
                  <a:schemeClr val="bg1"/>
                </a:solidFill>
              </a:rPr>
              <a:t>Challenges</a:t>
            </a:r>
            <a:endParaRPr sz="3200" b="1" dirty="0">
              <a:solidFill>
                <a:schemeClr val="bg1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8F266F4-0B47-A8E8-E48B-F048D86A3C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3850" y="1381207"/>
            <a:ext cx="8134350" cy="3344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Implementing ML.NET SSA forecasting required sufficient and realistic historical data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Synchronizing frontend (React) and backend (ASP.NET Core) changes caused integration challenges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JWT authentication and </a:t>
            </a:r>
            <a:r>
              <a:rPr kumimoji="0" lang="en-US" altLang="en-US" sz="15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SignalR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communication issues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Ensuring forecast data correctly displayed in dashboard and charts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database schema updates without breaking existing features </a:t>
            </a:r>
          </a:p>
        </p:txBody>
      </p:sp>
      <p:pic>
        <p:nvPicPr>
          <p:cNvPr id="8" name="Picture 7" descr="A logo with green leaves">
            <a:extLst>
              <a:ext uri="{FF2B5EF4-FFF2-40B4-BE49-F238E27FC236}">
                <a16:creationId xmlns:a16="http://schemas.microsoft.com/office/drawing/2014/main" id="{06D00A1C-F30A-3AD3-D919-F6EB1A7C6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094" y="5324094"/>
            <a:ext cx="1533906" cy="1533906"/>
          </a:xfrm>
          <a:prstGeom prst="rect">
            <a:avLst/>
          </a:prstGeom>
        </p:spPr>
      </p:pic>
      <p:pic>
        <p:nvPicPr>
          <p:cNvPr id="16" name="Picture 15" descr="A cartoon of a child sitting at a desk with a computer&#10;&#10;AI-generated content may be incorrect.">
            <a:extLst>
              <a:ext uri="{FF2B5EF4-FFF2-40B4-BE49-F238E27FC236}">
                <a16:creationId xmlns:a16="http://schemas.microsoft.com/office/drawing/2014/main" id="{FA4DFFCA-71B7-CC85-8FEA-23E06E083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325" y="2894657"/>
            <a:ext cx="1847850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563"/>
            <a:ext cx="8229600" cy="1143000"/>
          </a:xfrm>
        </p:spPr>
        <p:txBody>
          <a:bodyPr/>
          <a:lstStyle/>
          <a:p>
            <a:pPr>
              <a:defRPr sz="3200" b="1"/>
            </a:pPr>
            <a:r>
              <a:rPr lang="en-CA" sz="3200" b="1" dirty="0">
                <a:solidFill>
                  <a:schemeClr val="bg1"/>
                </a:solidFill>
              </a:rPr>
              <a:t>Lessons learned</a:t>
            </a:r>
            <a:endParaRPr sz="3200" b="1" dirty="0">
              <a:solidFill>
                <a:schemeClr val="bg1"/>
              </a:solidFill>
            </a:endParaRPr>
          </a:p>
        </p:txBody>
      </p:sp>
      <p:pic>
        <p:nvPicPr>
          <p:cNvPr id="8" name="Picture 7" descr="A logo with green leaves">
            <a:extLst>
              <a:ext uri="{FF2B5EF4-FFF2-40B4-BE49-F238E27FC236}">
                <a16:creationId xmlns:a16="http://schemas.microsoft.com/office/drawing/2014/main" id="{06D00A1C-F30A-3AD3-D919-F6EB1A7C6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094" y="5324094"/>
            <a:ext cx="1533906" cy="1533906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68DBFA54-22DD-271D-5C1B-7EA09FFDBC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3375" y="1354682"/>
            <a:ext cx="8258175" cy="467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20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  <a:tab pos="685800" algn="l"/>
              </a:tabLs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Machine learning success depends heavily on data quality and proper data preparation, not just algorithms </a:t>
            </a:r>
          </a:p>
          <a:p>
            <a:pPr lvl="0">
              <a:lnSpc>
                <a:spcPct val="20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  <a:tab pos="685800" algn="l"/>
              </a:tabLs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Importance of iterative development, debugging, and continuous testing </a:t>
            </a:r>
          </a:p>
          <a:p>
            <a:pPr lvl="0">
              <a:lnSpc>
                <a:spcPct val="20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  <a:tab pos="685800" algn="l"/>
              </a:tabLs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Strong understanding of full-stack integration (API + UI + database) is critical </a:t>
            </a:r>
          </a:p>
          <a:p>
            <a:pPr lvl="0">
              <a:lnSpc>
                <a:spcPct val="2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  <a:tab pos="685800" algn="l"/>
              </a:tabLs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 experience (UI/UX) significantly impacts system effectiveness and adoption</a:t>
            </a:r>
          </a:p>
          <a:p>
            <a:pPr lvl="0">
              <a:lnSpc>
                <a:spcPct val="2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  <a:tab pos="685800" algn="l"/>
              </a:tabLst>
            </a:pPr>
            <a:r>
              <a:rPr lang="en-CA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 flow need to be cleared before developing database</a:t>
            </a: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805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 logo with green leaves">
            <a:extLst>
              <a:ext uri="{FF2B5EF4-FFF2-40B4-BE49-F238E27FC236}">
                <a16:creationId xmlns:a16="http://schemas.microsoft.com/office/drawing/2014/main" id="{06D00A1C-F30A-3AD3-D919-F6EB1A7C6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094" y="5324094"/>
            <a:ext cx="1533906" cy="1533906"/>
          </a:xfrm>
          <a:prstGeom prst="rect">
            <a:avLst/>
          </a:prstGeom>
        </p:spPr>
      </p:pic>
      <p:pic>
        <p:nvPicPr>
          <p:cNvPr id="7" name="Picture 6" descr="A diagram of a network of drones">
            <a:extLst>
              <a:ext uri="{FF2B5EF4-FFF2-40B4-BE49-F238E27FC236}">
                <a16:creationId xmlns:a16="http://schemas.microsoft.com/office/drawing/2014/main" id="{015A5A87-B79A-0584-5052-BB7828280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875"/>
            <a:ext cx="9144000" cy="6703428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68DBFA54-22DD-271D-5C1B-7EA09FFDBC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3375" y="1128979"/>
            <a:ext cx="8258175" cy="5125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20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  <a:tab pos="733425" algn="l"/>
              </a:tabLs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Successfully developed </a:t>
            </a:r>
            <a:r>
              <a:rPr lang="en-CA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FarmVendor</a:t>
            </a: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 role-based platform for farmer–vendor coordination </a:t>
            </a:r>
          </a:p>
          <a:p>
            <a:pPr lvl="0">
              <a:lnSpc>
                <a:spcPct val="20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  <a:tab pos="733425" algn="l"/>
              </a:tabLs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Integrated ML.NET SSA forecasting to enable data-driven demand prediction </a:t>
            </a:r>
          </a:p>
          <a:p>
            <a:pPr lvl="0">
              <a:lnSpc>
                <a:spcPct val="20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  <a:tab pos="733425" algn="l"/>
              </a:tabLs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Designed a vendor recommendation system combining demand, inventory, distance, and relationship factors </a:t>
            </a:r>
          </a:p>
          <a:p>
            <a:pPr lvl="0">
              <a:lnSpc>
                <a:spcPct val="20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  <a:tab pos="733425" algn="l"/>
              </a:tabLs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Implemented real-time communication (</a:t>
            </a:r>
            <a:r>
              <a:rPr lang="en-CA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SignalR</a:t>
            </a: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to improve coordination </a:t>
            </a:r>
          </a:p>
          <a:p>
            <a:pPr lvl="0">
              <a:lnSpc>
                <a:spcPct val="2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  <a:tab pos="733425" algn="l"/>
              </a:tabLs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Achieved a transition from a transactional system → intelligent decision-support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" y="11697"/>
            <a:ext cx="9144000" cy="12344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6839"/>
            <a:ext cx="8229600" cy="1143000"/>
          </a:xfrm>
        </p:spPr>
        <p:txBody>
          <a:bodyPr/>
          <a:lstStyle/>
          <a:p>
            <a:pPr>
              <a:defRPr sz="3200" b="1"/>
            </a:pPr>
            <a:r>
              <a:rPr lang="en-CA" sz="3200" b="1" dirty="0">
                <a:solidFill>
                  <a:schemeClr val="bg1"/>
                </a:solidFill>
              </a:rPr>
              <a:t>Conclusion</a:t>
            </a:r>
            <a:endParaRPr sz="32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33205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2675" y="2771775"/>
            <a:ext cx="4438650" cy="19716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CA" sz="8000" dirty="0"/>
              <a:t>Thank </a:t>
            </a:r>
            <a:r>
              <a:rPr lang="en-CA" sz="8800" dirty="0"/>
              <a:t>you</a:t>
            </a:r>
            <a:endParaRPr sz="8000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 logo with green leaves">
            <a:extLst>
              <a:ext uri="{FF2B5EF4-FFF2-40B4-BE49-F238E27FC236}">
                <a16:creationId xmlns:a16="http://schemas.microsoft.com/office/drawing/2014/main" id="{6C5BCF6C-9B13-3FC1-D3B4-884056001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635" y="589216"/>
            <a:ext cx="3168396" cy="31683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645</Words>
  <Application>Microsoft Office PowerPoint</Application>
  <PresentationFormat>On-screen Show (4:3)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Segoe UI</vt:lpstr>
      <vt:lpstr>Symbol</vt:lpstr>
      <vt:lpstr>Wingdings</vt:lpstr>
      <vt:lpstr>Office Theme</vt:lpstr>
      <vt:lpstr>PowerPoint Presentation</vt:lpstr>
      <vt:lpstr>Background</vt:lpstr>
      <vt:lpstr>Research Methods</vt:lpstr>
      <vt:lpstr>Key Features</vt:lpstr>
      <vt:lpstr>Research Novelty</vt:lpstr>
      <vt:lpstr> System framework</vt:lpstr>
      <vt:lpstr>Tech Stack</vt:lpstr>
      <vt:lpstr>Challenges</vt:lpstr>
      <vt:lpstr>Lessons learned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Eeshwara, Maneesha P.</cp:lastModifiedBy>
  <cp:revision>19</cp:revision>
  <dcterms:created xsi:type="dcterms:W3CDTF">2013-01-27T09:14:16Z</dcterms:created>
  <dcterms:modified xsi:type="dcterms:W3CDTF">2026-04-09T05:07:33Z</dcterms:modified>
  <cp:category/>
</cp:coreProperties>
</file>